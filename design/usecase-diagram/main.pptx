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107997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242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1767462"/>
            <a:ext cx="9179799" cy="3759917"/>
          </a:xfrm>
        </p:spPr>
        <p:txBody>
          <a:bodyPr anchor="b"/>
          <a:lstStyle>
            <a:lvl1pPr algn="ctr">
              <a:defRPr sz="70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5672376"/>
            <a:ext cx="8099822" cy="2607442"/>
          </a:xfrm>
        </p:spPr>
        <p:txBody>
          <a:bodyPr/>
          <a:lstStyle>
            <a:lvl1pPr marL="0" indent="0" algn="ctr">
              <a:buNone/>
              <a:defRPr sz="2835"/>
            </a:lvl1pPr>
            <a:lvl2pPr marL="539999" indent="0" algn="ctr">
              <a:buNone/>
              <a:defRPr sz="2362"/>
            </a:lvl2pPr>
            <a:lvl3pPr marL="1079998" indent="0" algn="ctr">
              <a:buNone/>
              <a:defRPr sz="2126"/>
            </a:lvl3pPr>
            <a:lvl4pPr marL="1619997" indent="0" algn="ctr">
              <a:buNone/>
              <a:defRPr sz="1890"/>
            </a:lvl4pPr>
            <a:lvl5pPr marL="2159996" indent="0" algn="ctr">
              <a:buNone/>
              <a:defRPr sz="1890"/>
            </a:lvl5pPr>
            <a:lvl6pPr marL="2699995" indent="0" algn="ctr">
              <a:buNone/>
              <a:defRPr sz="1890"/>
            </a:lvl6pPr>
            <a:lvl7pPr marL="3239994" indent="0" algn="ctr">
              <a:buNone/>
              <a:defRPr sz="1890"/>
            </a:lvl7pPr>
            <a:lvl8pPr marL="3779992" indent="0" algn="ctr">
              <a:buNone/>
              <a:defRPr sz="1890"/>
            </a:lvl8pPr>
            <a:lvl9pPr marL="4319991" indent="0" algn="ctr">
              <a:buNone/>
              <a:defRPr sz="189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70F9-24F5-4294-9C89-B1EBC74BAF14}" type="datetimeFigureOut">
              <a:rPr lang="vi-VN" smtClean="0"/>
              <a:t>09/04/2026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ECEE8-9CF5-4B11-A080-030C850F27DA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03132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70F9-24F5-4294-9C89-B1EBC74BAF14}" type="datetimeFigureOut">
              <a:rPr lang="vi-VN" smtClean="0"/>
              <a:t>09/04/2026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ECEE8-9CF5-4B11-A080-030C850F27DA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75468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2692444"/>
            <a:ext cx="9314796" cy="4492401"/>
          </a:xfrm>
        </p:spPr>
        <p:txBody>
          <a:bodyPr anchor="b"/>
          <a:lstStyle>
            <a:lvl1pPr>
              <a:defRPr sz="70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7227345"/>
            <a:ext cx="9314796" cy="2362447"/>
          </a:xfrm>
        </p:spPr>
        <p:txBody>
          <a:bodyPr/>
          <a:lstStyle>
            <a:lvl1pPr marL="0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1pPr>
            <a:lvl2pPr marL="539999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2pPr>
            <a:lvl3pPr marL="1079998" indent="0">
              <a:buNone/>
              <a:defRPr sz="2126">
                <a:solidFill>
                  <a:schemeClr val="tx1">
                    <a:tint val="82000"/>
                  </a:schemeClr>
                </a:solidFill>
              </a:defRPr>
            </a:lvl3pPr>
            <a:lvl4pPr marL="1619997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4pPr>
            <a:lvl5pPr marL="2159996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5pPr>
            <a:lvl6pPr marL="2699995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6pPr>
            <a:lvl7pPr marL="3239994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7pPr>
            <a:lvl8pPr marL="3779992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8pPr>
            <a:lvl9pPr marL="4319991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70F9-24F5-4294-9C89-B1EBC74BAF14}" type="datetimeFigureOut">
              <a:rPr lang="vi-VN" smtClean="0"/>
              <a:t>09/04/2026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ECEE8-9CF5-4B11-A080-030C850F27DA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92109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2874937"/>
            <a:ext cx="4589899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2874937"/>
            <a:ext cx="4589899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70F9-24F5-4294-9C89-B1EBC74BAF14}" type="datetimeFigureOut">
              <a:rPr lang="vi-VN" smtClean="0"/>
              <a:t>09/04/2026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ECEE8-9CF5-4B11-A080-030C850F27DA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909725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574990"/>
            <a:ext cx="9314796" cy="2087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2" y="2647443"/>
            <a:ext cx="4568805" cy="1297471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2" y="3944914"/>
            <a:ext cx="4568805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1" y="2647443"/>
            <a:ext cx="4591306" cy="1297471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1" y="3944914"/>
            <a:ext cx="4591306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70F9-24F5-4294-9C89-B1EBC74BAF14}" type="datetimeFigureOut">
              <a:rPr lang="vi-VN" smtClean="0"/>
              <a:t>09/04/2026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ECEE8-9CF5-4B11-A080-030C850F27DA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68619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70F9-24F5-4294-9C89-B1EBC74BAF14}" type="datetimeFigureOut">
              <a:rPr lang="vi-VN" smtClean="0"/>
              <a:t>09/04/2026</a:t>
            </a:fld>
            <a:endParaRPr lang="vi-V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ECEE8-9CF5-4B11-A080-030C850F27DA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3430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70F9-24F5-4294-9C89-B1EBC74BAF14}" type="datetimeFigureOut">
              <a:rPr lang="vi-VN" smtClean="0"/>
              <a:t>09/04/2026</a:t>
            </a:fld>
            <a:endParaRPr lang="vi-V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ECEE8-9CF5-4B11-A080-030C850F27DA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767629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719984"/>
            <a:ext cx="3483205" cy="2519945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1554968"/>
            <a:ext cx="5467380" cy="7674832"/>
          </a:xfrm>
        </p:spPr>
        <p:txBody>
          <a:bodyPr/>
          <a:lstStyle>
            <a:lvl1pPr>
              <a:defRPr sz="3780"/>
            </a:lvl1pPr>
            <a:lvl2pPr>
              <a:defRPr sz="3307"/>
            </a:lvl2pPr>
            <a:lvl3pPr>
              <a:defRPr sz="2835"/>
            </a:lvl3pPr>
            <a:lvl4pPr>
              <a:defRPr sz="2362"/>
            </a:lvl4pPr>
            <a:lvl5pPr>
              <a:defRPr sz="2362"/>
            </a:lvl5pPr>
            <a:lvl6pPr>
              <a:defRPr sz="2362"/>
            </a:lvl6pPr>
            <a:lvl7pPr>
              <a:defRPr sz="2362"/>
            </a:lvl7pPr>
            <a:lvl8pPr>
              <a:defRPr sz="2362"/>
            </a:lvl8pPr>
            <a:lvl9pPr>
              <a:defRPr sz="236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3239929"/>
            <a:ext cx="3483205" cy="600236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70F9-24F5-4294-9C89-B1EBC74BAF14}" type="datetimeFigureOut">
              <a:rPr lang="vi-VN" smtClean="0"/>
              <a:t>09/04/2026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ECEE8-9CF5-4B11-A080-030C850F27DA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47828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719984"/>
            <a:ext cx="3483205" cy="2519945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1554968"/>
            <a:ext cx="5467380" cy="7674832"/>
          </a:xfrm>
        </p:spPr>
        <p:txBody>
          <a:bodyPr anchor="t"/>
          <a:lstStyle>
            <a:lvl1pPr marL="0" indent="0">
              <a:buNone/>
              <a:defRPr sz="3780"/>
            </a:lvl1pPr>
            <a:lvl2pPr marL="539999" indent="0">
              <a:buNone/>
              <a:defRPr sz="3307"/>
            </a:lvl2pPr>
            <a:lvl3pPr marL="1079998" indent="0">
              <a:buNone/>
              <a:defRPr sz="2835"/>
            </a:lvl3pPr>
            <a:lvl4pPr marL="1619997" indent="0">
              <a:buNone/>
              <a:defRPr sz="2362"/>
            </a:lvl4pPr>
            <a:lvl5pPr marL="2159996" indent="0">
              <a:buNone/>
              <a:defRPr sz="2362"/>
            </a:lvl5pPr>
            <a:lvl6pPr marL="2699995" indent="0">
              <a:buNone/>
              <a:defRPr sz="2362"/>
            </a:lvl6pPr>
            <a:lvl7pPr marL="3239994" indent="0">
              <a:buNone/>
              <a:defRPr sz="2362"/>
            </a:lvl7pPr>
            <a:lvl8pPr marL="3779992" indent="0">
              <a:buNone/>
              <a:defRPr sz="2362"/>
            </a:lvl8pPr>
            <a:lvl9pPr marL="4319991" indent="0">
              <a:buNone/>
              <a:defRPr sz="2362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3239929"/>
            <a:ext cx="3483205" cy="600236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70F9-24F5-4294-9C89-B1EBC74BAF14}" type="datetimeFigureOut">
              <a:rPr lang="vi-VN" smtClean="0"/>
              <a:t>09/04/2026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ECEE8-9CF5-4B11-A080-030C850F27DA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69673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70F9-24F5-4294-9C89-B1EBC74BAF14}" type="datetimeFigureOut">
              <a:rPr lang="vi-VN" smtClean="0"/>
              <a:t>09/04/2026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ECEE8-9CF5-4B11-A080-030C850F27DA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62839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1" y="574987"/>
            <a:ext cx="2328699" cy="91523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574987"/>
            <a:ext cx="6851100" cy="9152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470F9-24F5-4294-9C89-B1EBC74BAF14}" type="datetimeFigureOut">
              <a:rPr lang="vi-VN" smtClean="0"/>
              <a:t>09/04/2026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6ECEE8-9CF5-4B11-A080-030C850F27DA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268932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574990"/>
            <a:ext cx="9314796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2874937"/>
            <a:ext cx="9314796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10009783"/>
            <a:ext cx="242994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5470F9-24F5-4294-9C89-B1EBC74BAF14}" type="datetimeFigureOut">
              <a:rPr lang="vi-VN" smtClean="0"/>
              <a:t>09/04/2026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10009783"/>
            <a:ext cx="364492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10009783"/>
            <a:ext cx="242994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6ECEE8-9CF5-4B11-A080-030C850F27DA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47346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79998" rtl="0" eaLnBrk="1" latinLnBrk="0" hangingPunct="1">
        <a:lnSpc>
          <a:spcPct val="90000"/>
        </a:lnSpc>
        <a:spcBef>
          <a:spcPct val="0"/>
        </a:spcBef>
        <a:buNone/>
        <a:defRPr sz="51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999" indent="-269999" algn="l" defTabSz="1079998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1pPr>
      <a:lvl2pPr marL="809998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349997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889996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429995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969994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509993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4049992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589991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1pPr>
      <a:lvl2pPr marL="539999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2pPr>
      <a:lvl3pPr marL="1079998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619997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159996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699995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239994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3779992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319991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tangle 183">
            <a:extLst>
              <a:ext uri="{FF2B5EF4-FFF2-40B4-BE49-F238E27FC236}">
                <a16:creationId xmlns:a16="http://schemas.microsoft.com/office/drawing/2014/main" id="{29850440-CD63-C9A0-CF2C-6BEF52742CD4}"/>
              </a:ext>
            </a:extLst>
          </p:cNvPr>
          <p:cNvSpPr/>
          <p:nvPr/>
        </p:nvSpPr>
        <p:spPr>
          <a:xfrm>
            <a:off x="0" y="0"/>
            <a:ext cx="10799763" cy="1080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512E21E-D950-68E1-74C5-5E83052A1017}"/>
              </a:ext>
            </a:extLst>
          </p:cNvPr>
          <p:cNvGrpSpPr/>
          <p:nvPr/>
        </p:nvGrpSpPr>
        <p:grpSpPr>
          <a:xfrm>
            <a:off x="272518" y="1147531"/>
            <a:ext cx="1080000" cy="1800000"/>
            <a:chOff x="276735" y="528909"/>
            <a:chExt cx="1080000" cy="180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4FB7822-38F7-2D7C-549C-390E4E8568A2}"/>
                </a:ext>
              </a:extLst>
            </p:cNvPr>
            <p:cNvSpPr/>
            <p:nvPr/>
          </p:nvSpPr>
          <p:spPr>
            <a:xfrm>
              <a:off x="276735" y="528909"/>
              <a:ext cx="1080000" cy="180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pic>
          <p:nvPicPr>
            <p:cNvPr id="5" name="Graphic 4" descr="Man with solid fill">
              <a:extLst>
                <a:ext uri="{FF2B5EF4-FFF2-40B4-BE49-F238E27FC236}">
                  <a16:creationId xmlns:a16="http://schemas.microsoft.com/office/drawing/2014/main" id="{A4875F68-27D0-33E3-8A0F-2704DD97FC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76735" y="602578"/>
              <a:ext cx="1080000" cy="10800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03316CF-5F86-D554-EF74-A4076F8F7D42}"/>
                </a:ext>
              </a:extLst>
            </p:cNvPr>
            <p:cNvSpPr txBox="1"/>
            <p:nvPr/>
          </p:nvSpPr>
          <p:spPr>
            <a:xfrm>
              <a:off x="352023" y="1821077"/>
              <a:ext cx="929422" cy="36933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6">
                      <a:lumMod val="75000"/>
                    </a:schemeClr>
                  </a:solidFill>
                </a:rPr>
                <a:t>Guests</a:t>
              </a:r>
              <a:endParaRPr lang="vi-VN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A5606C1-75D9-0D20-E45D-38398156E4D4}"/>
              </a:ext>
            </a:extLst>
          </p:cNvPr>
          <p:cNvGrpSpPr/>
          <p:nvPr/>
        </p:nvGrpSpPr>
        <p:grpSpPr>
          <a:xfrm>
            <a:off x="276735" y="3555333"/>
            <a:ext cx="1080000" cy="1800000"/>
            <a:chOff x="276735" y="528909"/>
            <a:chExt cx="1080000" cy="1800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FBA8C1E-CA44-698B-B4FE-3D4259589F0E}"/>
                </a:ext>
              </a:extLst>
            </p:cNvPr>
            <p:cNvSpPr/>
            <p:nvPr/>
          </p:nvSpPr>
          <p:spPr>
            <a:xfrm>
              <a:off x="276735" y="528909"/>
              <a:ext cx="1080000" cy="180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pic>
          <p:nvPicPr>
            <p:cNvPr id="11" name="Graphic 10" descr="Man with solid fill">
              <a:extLst>
                <a:ext uri="{FF2B5EF4-FFF2-40B4-BE49-F238E27FC236}">
                  <a16:creationId xmlns:a16="http://schemas.microsoft.com/office/drawing/2014/main" id="{2DC8E286-1129-F2BB-FC36-4C676D970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76735" y="602578"/>
              <a:ext cx="1080000" cy="1080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66F30D4-95CB-D513-44EB-2D82CE2AE9E7}"/>
                </a:ext>
              </a:extLst>
            </p:cNvPr>
            <p:cNvSpPr txBox="1"/>
            <p:nvPr/>
          </p:nvSpPr>
          <p:spPr>
            <a:xfrm>
              <a:off x="333685" y="1682578"/>
              <a:ext cx="966098" cy="64633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4">
                      <a:lumMod val="75000"/>
                    </a:schemeClr>
                  </a:solidFill>
                </a:rPr>
                <a:t>Parking</a:t>
              </a:r>
            </a:p>
            <a:p>
              <a:pPr algn="ctr"/>
              <a:r>
                <a:rPr lang="en-US" b="1" dirty="0">
                  <a:solidFill>
                    <a:schemeClr val="accent4">
                      <a:lumMod val="75000"/>
                    </a:schemeClr>
                  </a:solidFill>
                </a:rPr>
                <a:t>Staffs</a:t>
              </a:r>
              <a:endParaRPr lang="vi-VN" b="1" dirty="0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C2F776F-CA27-47E8-50A9-CEB7A964F363}"/>
              </a:ext>
            </a:extLst>
          </p:cNvPr>
          <p:cNvGrpSpPr/>
          <p:nvPr/>
        </p:nvGrpSpPr>
        <p:grpSpPr>
          <a:xfrm>
            <a:off x="230997" y="5963135"/>
            <a:ext cx="1171475" cy="1800000"/>
            <a:chOff x="230997" y="528909"/>
            <a:chExt cx="1171475" cy="1800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E195912-BDEB-E0CB-9198-68D814D17195}"/>
                </a:ext>
              </a:extLst>
            </p:cNvPr>
            <p:cNvSpPr/>
            <p:nvPr/>
          </p:nvSpPr>
          <p:spPr>
            <a:xfrm>
              <a:off x="276735" y="528909"/>
              <a:ext cx="1080000" cy="180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pic>
          <p:nvPicPr>
            <p:cNvPr id="15" name="Graphic 14" descr="Man with solid fill">
              <a:extLst>
                <a:ext uri="{FF2B5EF4-FFF2-40B4-BE49-F238E27FC236}">
                  <a16:creationId xmlns:a16="http://schemas.microsoft.com/office/drawing/2014/main" id="{5DBE0BC0-B889-E238-5FB8-CB9C5997B9C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76735" y="602578"/>
              <a:ext cx="1080000" cy="1080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5B7F45D-9E67-D820-7D31-2E91B13F6C85}"/>
                </a:ext>
              </a:extLst>
            </p:cNvPr>
            <p:cNvSpPr txBox="1"/>
            <p:nvPr/>
          </p:nvSpPr>
          <p:spPr>
            <a:xfrm>
              <a:off x="230997" y="1682578"/>
              <a:ext cx="1171475" cy="64633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2">
                      <a:lumMod val="75000"/>
                    </a:schemeClr>
                  </a:solidFill>
                </a:rPr>
                <a:t>HCMUT</a:t>
              </a:r>
            </a:p>
            <a:p>
              <a:pPr algn="ctr"/>
              <a:r>
                <a:rPr lang="en-US" b="1" dirty="0">
                  <a:solidFill>
                    <a:schemeClr val="accent2">
                      <a:lumMod val="75000"/>
                    </a:schemeClr>
                  </a:solidFill>
                </a:rPr>
                <a:t>Members</a:t>
              </a:r>
              <a:endParaRPr lang="vi-VN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6CCC03D-AC83-BD56-FAAD-EA0C80A60208}"/>
              </a:ext>
            </a:extLst>
          </p:cNvPr>
          <p:cNvGrpSpPr/>
          <p:nvPr/>
        </p:nvGrpSpPr>
        <p:grpSpPr>
          <a:xfrm>
            <a:off x="276735" y="8347531"/>
            <a:ext cx="1080000" cy="1800000"/>
            <a:chOff x="276735" y="528909"/>
            <a:chExt cx="1080000" cy="1800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6DD1844-E30A-6FBC-E4BE-8D22358493B7}"/>
                </a:ext>
              </a:extLst>
            </p:cNvPr>
            <p:cNvSpPr/>
            <p:nvPr/>
          </p:nvSpPr>
          <p:spPr>
            <a:xfrm>
              <a:off x="276735" y="528909"/>
              <a:ext cx="1080000" cy="180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pic>
          <p:nvPicPr>
            <p:cNvPr id="19" name="Graphic 18" descr="Man with solid fill">
              <a:extLst>
                <a:ext uri="{FF2B5EF4-FFF2-40B4-BE49-F238E27FC236}">
                  <a16:creationId xmlns:a16="http://schemas.microsoft.com/office/drawing/2014/main" id="{1BE8AC9B-9946-11E8-EACB-40ABF7FD89F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76735" y="602578"/>
              <a:ext cx="1080000" cy="108000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5424732-C262-29E6-4DA3-8C771F3E3176}"/>
                </a:ext>
              </a:extLst>
            </p:cNvPr>
            <p:cNvSpPr txBox="1"/>
            <p:nvPr/>
          </p:nvSpPr>
          <p:spPr>
            <a:xfrm>
              <a:off x="333685" y="1682578"/>
              <a:ext cx="966098" cy="64633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5">
                      <a:lumMod val="75000"/>
                    </a:schemeClr>
                  </a:solidFill>
                </a:rPr>
                <a:t>Parking</a:t>
              </a:r>
            </a:p>
            <a:p>
              <a:pPr algn="ctr"/>
              <a:r>
                <a:rPr lang="en-US" b="1" dirty="0">
                  <a:solidFill>
                    <a:schemeClr val="accent5">
                      <a:lumMod val="75000"/>
                    </a:schemeClr>
                  </a:solidFill>
                </a:rPr>
                <a:t>Admin</a:t>
              </a:r>
              <a:endParaRPr lang="vi-VN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D791CB37-814E-A0B3-8C70-F6F520E87419}"/>
              </a:ext>
            </a:extLst>
          </p:cNvPr>
          <p:cNvSpPr/>
          <p:nvPr/>
        </p:nvSpPr>
        <p:spPr>
          <a:xfrm>
            <a:off x="2404019" y="445769"/>
            <a:ext cx="6480000" cy="972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EF7BE92-7F1B-0811-47B5-F8916E9CB709}"/>
              </a:ext>
            </a:extLst>
          </p:cNvPr>
          <p:cNvGrpSpPr/>
          <p:nvPr/>
        </p:nvGrpSpPr>
        <p:grpSpPr>
          <a:xfrm>
            <a:off x="9305491" y="1147531"/>
            <a:ext cx="1080000" cy="1800000"/>
            <a:chOff x="276735" y="528909"/>
            <a:chExt cx="1080000" cy="1800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B77D45E-C79F-A43D-853A-EB0E8C2DA37F}"/>
                </a:ext>
              </a:extLst>
            </p:cNvPr>
            <p:cNvSpPr/>
            <p:nvPr/>
          </p:nvSpPr>
          <p:spPr>
            <a:xfrm>
              <a:off x="276735" y="528909"/>
              <a:ext cx="1080000" cy="180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pic>
          <p:nvPicPr>
            <p:cNvPr id="24" name="Graphic 23" descr="Man with solid fill">
              <a:extLst>
                <a:ext uri="{FF2B5EF4-FFF2-40B4-BE49-F238E27FC236}">
                  <a16:creationId xmlns:a16="http://schemas.microsoft.com/office/drawing/2014/main" id="{585D8569-F442-ABF4-1535-982EB85D98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76735" y="602578"/>
              <a:ext cx="1080000" cy="10800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DB75545-2954-41A7-BB7B-275A930B8329}"/>
                </a:ext>
              </a:extLst>
            </p:cNvPr>
            <p:cNvSpPr txBox="1"/>
            <p:nvPr/>
          </p:nvSpPr>
          <p:spPr>
            <a:xfrm>
              <a:off x="325256" y="1682578"/>
              <a:ext cx="982961" cy="64633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b="1" dirty="0">
                  <a:solidFill>
                    <a:srgbClr val="FFC000"/>
                  </a:solidFill>
                </a:rPr>
                <a:t>HCMUT</a:t>
              </a:r>
            </a:p>
            <a:p>
              <a:pPr algn="ctr"/>
              <a:r>
                <a:rPr lang="en-US" b="1" dirty="0">
                  <a:solidFill>
                    <a:srgbClr val="FFC000"/>
                  </a:solidFill>
                </a:rPr>
                <a:t>SSO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29870AD-262B-D18B-5CF8-3389B929F238}"/>
              </a:ext>
            </a:extLst>
          </p:cNvPr>
          <p:cNvGrpSpPr/>
          <p:nvPr/>
        </p:nvGrpSpPr>
        <p:grpSpPr>
          <a:xfrm>
            <a:off x="9180407" y="8347531"/>
            <a:ext cx="1330172" cy="1800000"/>
            <a:chOff x="151651" y="528909"/>
            <a:chExt cx="1330172" cy="180000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EA16211-A49E-2C25-2E49-4BEEEB75D389}"/>
                </a:ext>
              </a:extLst>
            </p:cNvPr>
            <p:cNvSpPr/>
            <p:nvPr/>
          </p:nvSpPr>
          <p:spPr>
            <a:xfrm>
              <a:off x="276735" y="528909"/>
              <a:ext cx="1080000" cy="180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pic>
          <p:nvPicPr>
            <p:cNvPr id="28" name="Graphic 27" descr="Man with solid fill">
              <a:extLst>
                <a:ext uri="{FF2B5EF4-FFF2-40B4-BE49-F238E27FC236}">
                  <a16:creationId xmlns:a16="http://schemas.microsoft.com/office/drawing/2014/main" id="{9CF6C06E-0382-6E4D-F31B-28F7A6622A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76735" y="602578"/>
              <a:ext cx="1080000" cy="108000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508BDE2-7BAB-B872-6C23-B9C29C823FEB}"/>
                </a:ext>
              </a:extLst>
            </p:cNvPr>
            <p:cNvSpPr txBox="1"/>
            <p:nvPr/>
          </p:nvSpPr>
          <p:spPr>
            <a:xfrm>
              <a:off x="151651" y="1682578"/>
              <a:ext cx="1330172" cy="646331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b="1" dirty="0">
                  <a:solidFill>
                    <a:srgbClr val="C00000"/>
                  </a:solidFill>
                </a:rPr>
                <a:t>HCMUT</a:t>
              </a:r>
            </a:p>
            <a:p>
              <a:pPr algn="ctr"/>
              <a:r>
                <a:rPr lang="en-US" b="1" dirty="0">
                  <a:solidFill>
                    <a:srgbClr val="C00000"/>
                  </a:solidFill>
                </a:rPr>
                <a:t>DATACORE</a:t>
              </a:r>
              <a:endParaRPr lang="vi-VN" b="1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32F1273-A5CB-54E1-F05F-1EDC5ED56E64}"/>
              </a:ext>
            </a:extLst>
          </p:cNvPr>
          <p:cNvGrpSpPr/>
          <p:nvPr/>
        </p:nvGrpSpPr>
        <p:grpSpPr>
          <a:xfrm>
            <a:off x="9305491" y="4776804"/>
            <a:ext cx="1080000" cy="1800000"/>
            <a:chOff x="276735" y="528909"/>
            <a:chExt cx="1080000" cy="1800000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14B52EA-AAA4-1AFB-A3B9-4A67C372BCC6}"/>
                </a:ext>
              </a:extLst>
            </p:cNvPr>
            <p:cNvSpPr/>
            <p:nvPr/>
          </p:nvSpPr>
          <p:spPr>
            <a:xfrm>
              <a:off x="276735" y="528909"/>
              <a:ext cx="1080000" cy="180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pic>
          <p:nvPicPr>
            <p:cNvPr id="32" name="Graphic 31" descr="Man with solid fill">
              <a:extLst>
                <a:ext uri="{FF2B5EF4-FFF2-40B4-BE49-F238E27FC236}">
                  <a16:creationId xmlns:a16="http://schemas.microsoft.com/office/drawing/2014/main" id="{5EE0B43C-A8C1-7D91-8930-44DAC69EE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276735" y="602578"/>
              <a:ext cx="1080000" cy="1080000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7912531-1010-47F6-6074-5D70B8A71314}"/>
                </a:ext>
              </a:extLst>
            </p:cNvPr>
            <p:cNvSpPr txBox="1"/>
            <p:nvPr/>
          </p:nvSpPr>
          <p:spPr>
            <a:xfrm>
              <a:off x="394987" y="1821077"/>
              <a:ext cx="843501" cy="36933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b="1" dirty="0"/>
                <a:t>BKPay</a:t>
              </a: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334B92B4-BB5B-0744-E0EB-39483A9343B7}"/>
              </a:ext>
            </a:extLst>
          </p:cNvPr>
          <p:cNvSpPr txBox="1"/>
          <p:nvPr/>
        </p:nvSpPr>
        <p:spPr>
          <a:xfrm>
            <a:off x="3618208" y="511499"/>
            <a:ext cx="4051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HCMUT Parking Management System</a:t>
            </a:r>
            <a:endParaRPr lang="vi-VN" b="1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DC44F78D-9C44-50F1-707E-9FB9E5F8B0EB}"/>
              </a:ext>
            </a:extLst>
          </p:cNvPr>
          <p:cNvSpPr/>
          <p:nvPr/>
        </p:nvSpPr>
        <p:spPr>
          <a:xfrm>
            <a:off x="3104922" y="6028581"/>
            <a:ext cx="2340000" cy="435061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Process in for members</a:t>
            </a:r>
            <a:endParaRPr lang="vi-VN" sz="12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51EC4FE-2FF8-AED6-647D-D8397830ADF9}"/>
              </a:ext>
            </a:extLst>
          </p:cNvPr>
          <p:cNvSpPr/>
          <p:nvPr/>
        </p:nvSpPr>
        <p:spPr>
          <a:xfrm>
            <a:off x="3104922" y="6594703"/>
            <a:ext cx="2340000" cy="435061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Process out for members</a:t>
            </a:r>
            <a:endParaRPr lang="vi-VN" sz="12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D54F4140-9349-2219-EC76-1B12D45138FC}"/>
              </a:ext>
            </a:extLst>
          </p:cNvPr>
          <p:cNvSpPr/>
          <p:nvPr/>
        </p:nvSpPr>
        <p:spPr>
          <a:xfrm>
            <a:off x="3104922" y="7169506"/>
            <a:ext cx="2340000" cy="435061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2">
                    <a:lumMod val="75000"/>
                  </a:schemeClr>
                </a:solidFill>
              </a:rPr>
              <a:t>Pay on a recurring basis</a:t>
            </a:r>
            <a:endParaRPr lang="vi-VN" sz="12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C4E9133E-39F5-1363-9099-82C39345623D}"/>
              </a:ext>
            </a:extLst>
          </p:cNvPr>
          <p:cNvSpPr/>
          <p:nvPr/>
        </p:nvSpPr>
        <p:spPr>
          <a:xfrm>
            <a:off x="3104922" y="3941904"/>
            <a:ext cx="2340000" cy="435061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View empty slots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04AB6BD7-70F3-69B2-A5FA-AC05788AF00D}"/>
              </a:ext>
            </a:extLst>
          </p:cNvPr>
          <p:cNvSpPr/>
          <p:nvPr/>
        </p:nvSpPr>
        <p:spPr>
          <a:xfrm>
            <a:off x="3104922" y="1241726"/>
            <a:ext cx="2340000" cy="435061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6">
                    <a:lumMod val="75000"/>
                  </a:schemeClr>
                </a:solidFill>
              </a:rPr>
              <a:t>Process in for guests</a:t>
            </a:r>
            <a:endParaRPr lang="vi-VN" sz="12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1FD836FA-4AE7-9C03-D94D-CA43366C5950}"/>
              </a:ext>
            </a:extLst>
          </p:cNvPr>
          <p:cNvSpPr/>
          <p:nvPr/>
        </p:nvSpPr>
        <p:spPr>
          <a:xfrm>
            <a:off x="3104922" y="1807848"/>
            <a:ext cx="2340000" cy="435061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6">
                    <a:lumMod val="75000"/>
                  </a:schemeClr>
                </a:solidFill>
              </a:rPr>
              <a:t>Process out for guests</a:t>
            </a:r>
            <a:endParaRPr lang="vi-VN" sz="12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0570B57C-EA66-A6B5-CE36-69C1EA1AFB44}"/>
              </a:ext>
            </a:extLst>
          </p:cNvPr>
          <p:cNvSpPr/>
          <p:nvPr/>
        </p:nvSpPr>
        <p:spPr>
          <a:xfrm>
            <a:off x="3104922" y="2373970"/>
            <a:ext cx="2340000" cy="435061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6">
                    <a:lumMod val="75000"/>
                  </a:schemeClr>
                </a:solidFill>
              </a:rPr>
              <a:t>Guests pay via QR/Cash</a:t>
            </a:r>
            <a:endParaRPr lang="vi-VN" sz="12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9F86774B-3FD7-CA68-2405-28208FE2DF65}"/>
              </a:ext>
            </a:extLst>
          </p:cNvPr>
          <p:cNvSpPr/>
          <p:nvPr/>
        </p:nvSpPr>
        <p:spPr>
          <a:xfrm>
            <a:off x="3104922" y="9030000"/>
            <a:ext cx="2340000" cy="435061"/>
          </a:xfrm>
          <a:prstGeom prst="roundRect">
            <a:avLst>
              <a:gd name="adj" fmla="val 50000"/>
            </a:avLst>
          </a:prstGeom>
          <a:solidFill>
            <a:schemeClr val="accent5">
              <a:lumMod val="20000"/>
              <a:lumOff val="80000"/>
            </a:schemeClr>
          </a:solidFill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5">
                    <a:lumMod val="75000"/>
                  </a:schemeClr>
                </a:solidFill>
              </a:rPr>
              <a:t>Monitor/configure system</a:t>
            </a:r>
            <a:endParaRPr lang="vi-VN" sz="12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37AFF6CE-A751-65C0-ABB6-3AC165FF1614}"/>
              </a:ext>
            </a:extLst>
          </p:cNvPr>
          <p:cNvSpPr/>
          <p:nvPr/>
        </p:nvSpPr>
        <p:spPr>
          <a:xfrm>
            <a:off x="5994470" y="6269942"/>
            <a:ext cx="2340000" cy="435061"/>
          </a:xfrm>
          <a:prstGeom prst="roundRect">
            <a:avLst>
              <a:gd name="adj" fmla="val 50000"/>
            </a:avLst>
          </a:prstGeom>
          <a:solidFill>
            <a:schemeClr val="bg2">
              <a:lumMod val="9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Authenticate members</a:t>
            </a:r>
            <a:endParaRPr lang="vi-VN" sz="1200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89ACE513-2BEB-11A3-38D9-2D978FD3ADE5}"/>
              </a:ext>
            </a:extLst>
          </p:cNvPr>
          <p:cNvSpPr/>
          <p:nvPr/>
        </p:nvSpPr>
        <p:spPr>
          <a:xfrm>
            <a:off x="3104922" y="4516707"/>
            <a:ext cx="2340000" cy="435061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4">
                    <a:lumMod val="75000"/>
                  </a:schemeClr>
                </a:solidFill>
              </a:rPr>
              <a:t>Special occurrence handling</a:t>
            </a:r>
            <a:endParaRPr lang="vi-VN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4E37F6D-5EC7-9F44-FEF3-3C1527DAC556}"/>
              </a:ext>
            </a:extLst>
          </p:cNvPr>
          <p:cNvCxnSpPr>
            <a:stCxn id="7" idx="3"/>
            <a:endCxn id="41" idx="1"/>
          </p:cNvCxnSpPr>
          <p:nvPr/>
        </p:nvCxnSpPr>
        <p:spPr>
          <a:xfrm flipV="1">
            <a:off x="1352518" y="1459257"/>
            <a:ext cx="1752404" cy="588274"/>
          </a:xfrm>
          <a:prstGeom prst="line">
            <a:avLst/>
          </a:prstGeom>
          <a:ln w="38100"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242403F-EEBA-9B6E-DF31-D0DBCB90F28A}"/>
              </a:ext>
            </a:extLst>
          </p:cNvPr>
          <p:cNvCxnSpPr>
            <a:cxnSpLocks/>
            <a:stCxn id="7" idx="3"/>
            <a:endCxn id="42" idx="1"/>
          </p:cNvCxnSpPr>
          <p:nvPr/>
        </p:nvCxnSpPr>
        <p:spPr>
          <a:xfrm flipV="1">
            <a:off x="1352518" y="2025379"/>
            <a:ext cx="1752404" cy="22152"/>
          </a:xfrm>
          <a:prstGeom prst="line">
            <a:avLst/>
          </a:prstGeom>
          <a:ln w="38100"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10D2137-9810-52FE-ADD7-BA53FD620408}"/>
              </a:ext>
            </a:extLst>
          </p:cNvPr>
          <p:cNvCxnSpPr>
            <a:cxnSpLocks/>
            <a:stCxn id="7" idx="3"/>
            <a:endCxn id="43" idx="1"/>
          </p:cNvCxnSpPr>
          <p:nvPr/>
        </p:nvCxnSpPr>
        <p:spPr>
          <a:xfrm>
            <a:off x="1352518" y="2047531"/>
            <a:ext cx="1752404" cy="543970"/>
          </a:xfrm>
          <a:prstGeom prst="line">
            <a:avLst/>
          </a:prstGeom>
          <a:ln w="38100" cap="rnd">
            <a:solidFill>
              <a:schemeClr val="accent6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31E0C9D-4124-EF7D-825B-BE23DD3DC122}"/>
              </a:ext>
            </a:extLst>
          </p:cNvPr>
          <p:cNvCxnSpPr>
            <a:cxnSpLocks/>
            <a:stCxn id="10" idx="3"/>
            <a:endCxn id="40" idx="1"/>
          </p:cNvCxnSpPr>
          <p:nvPr/>
        </p:nvCxnSpPr>
        <p:spPr>
          <a:xfrm flipV="1">
            <a:off x="1356735" y="4159435"/>
            <a:ext cx="1748187" cy="295898"/>
          </a:xfrm>
          <a:prstGeom prst="line">
            <a:avLst/>
          </a:prstGeom>
          <a:ln w="38100" cap="rnd">
            <a:solidFill>
              <a:schemeClr val="accent4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D830BE5-D80F-7DC0-CB1D-529E51D2BD89}"/>
              </a:ext>
            </a:extLst>
          </p:cNvPr>
          <p:cNvCxnSpPr>
            <a:cxnSpLocks/>
            <a:stCxn id="10" idx="3"/>
            <a:endCxn id="46" idx="1"/>
          </p:cNvCxnSpPr>
          <p:nvPr/>
        </p:nvCxnSpPr>
        <p:spPr>
          <a:xfrm>
            <a:off x="1356735" y="4455333"/>
            <a:ext cx="1748187" cy="278905"/>
          </a:xfrm>
          <a:prstGeom prst="line">
            <a:avLst/>
          </a:prstGeom>
          <a:ln w="38100" cap="rnd">
            <a:solidFill>
              <a:schemeClr val="accent4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8CD4B0FC-A87A-B232-7963-1680E52C92D0}"/>
              </a:ext>
            </a:extLst>
          </p:cNvPr>
          <p:cNvCxnSpPr>
            <a:cxnSpLocks/>
            <a:stCxn id="14" idx="3"/>
            <a:endCxn id="35" idx="1"/>
          </p:cNvCxnSpPr>
          <p:nvPr/>
        </p:nvCxnSpPr>
        <p:spPr>
          <a:xfrm flipV="1">
            <a:off x="1356735" y="6246112"/>
            <a:ext cx="1748187" cy="617023"/>
          </a:xfrm>
          <a:prstGeom prst="line">
            <a:avLst/>
          </a:prstGeom>
          <a:ln w="38100"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E7B430B-02DF-8C68-E252-7B13F8D5BF29}"/>
              </a:ext>
            </a:extLst>
          </p:cNvPr>
          <p:cNvCxnSpPr>
            <a:cxnSpLocks/>
            <a:stCxn id="14" idx="3"/>
            <a:endCxn id="36" idx="1"/>
          </p:cNvCxnSpPr>
          <p:nvPr/>
        </p:nvCxnSpPr>
        <p:spPr>
          <a:xfrm flipV="1">
            <a:off x="1356735" y="6812234"/>
            <a:ext cx="1748187" cy="50901"/>
          </a:xfrm>
          <a:prstGeom prst="line">
            <a:avLst/>
          </a:prstGeom>
          <a:ln w="38100"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9BD7D13-9CBD-0845-102A-ED270E8A3601}"/>
              </a:ext>
            </a:extLst>
          </p:cNvPr>
          <p:cNvCxnSpPr>
            <a:cxnSpLocks/>
            <a:stCxn id="14" idx="3"/>
            <a:endCxn id="37" idx="1"/>
          </p:cNvCxnSpPr>
          <p:nvPr/>
        </p:nvCxnSpPr>
        <p:spPr>
          <a:xfrm>
            <a:off x="1356735" y="6863135"/>
            <a:ext cx="1748187" cy="523902"/>
          </a:xfrm>
          <a:prstGeom prst="line">
            <a:avLst/>
          </a:prstGeom>
          <a:ln w="38100"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D059C4F2-3977-6763-F82B-FF8B53A20FD7}"/>
              </a:ext>
            </a:extLst>
          </p:cNvPr>
          <p:cNvCxnSpPr>
            <a:cxnSpLocks/>
            <a:stCxn id="18" idx="3"/>
            <a:endCxn id="44" idx="1"/>
          </p:cNvCxnSpPr>
          <p:nvPr/>
        </p:nvCxnSpPr>
        <p:spPr>
          <a:xfrm>
            <a:off x="1356735" y="9247531"/>
            <a:ext cx="1748187" cy="0"/>
          </a:xfrm>
          <a:prstGeom prst="line">
            <a:avLst/>
          </a:prstGeom>
          <a:ln w="38100" cap="rnd">
            <a:solidFill>
              <a:schemeClr val="accent5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Curved 117">
            <a:extLst>
              <a:ext uri="{FF2B5EF4-FFF2-40B4-BE49-F238E27FC236}">
                <a16:creationId xmlns:a16="http://schemas.microsoft.com/office/drawing/2014/main" id="{0CD94E30-3F46-8CAF-5DEC-C4872B2F5DC3}"/>
              </a:ext>
            </a:extLst>
          </p:cNvPr>
          <p:cNvCxnSpPr>
            <a:cxnSpLocks/>
            <a:stCxn id="40" idx="1"/>
            <a:endCxn id="7" idx="3"/>
          </p:cNvCxnSpPr>
          <p:nvPr/>
        </p:nvCxnSpPr>
        <p:spPr>
          <a:xfrm rot="10800000">
            <a:off x="1352518" y="2047531"/>
            <a:ext cx="1752404" cy="2111904"/>
          </a:xfrm>
          <a:prstGeom prst="curvedConnector3">
            <a:avLst>
              <a:gd name="adj1" fmla="val 50703"/>
            </a:avLst>
          </a:prstGeom>
          <a:ln w="38100" cap="rnd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6">
                    <a:lumMod val="75000"/>
                  </a:schemeClr>
                </a:gs>
              </a:gsLst>
              <a:lin ang="5400000" scaled="1"/>
            </a:gra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Curved 122">
            <a:extLst>
              <a:ext uri="{FF2B5EF4-FFF2-40B4-BE49-F238E27FC236}">
                <a16:creationId xmlns:a16="http://schemas.microsoft.com/office/drawing/2014/main" id="{C66937D8-4978-7230-D0AF-5A07945E8D21}"/>
              </a:ext>
            </a:extLst>
          </p:cNvPr>
          <p:cNvCxnSpPr>
            <a:cxnSpLocks/>
            <a:stCxn id="40" idx="1"/>
            <a:endCxn id="14" idx="3"/>
          </p:cNvCxnSpPr>
          <p:nvPr/>
        </p:nvCxnSpPr>
        <p:spPr>
          <a:xfrm rot="10800000" flipV="1">
            <a:off x="1356736" y="4159435"/>
            <a:ext cx="1748187" cy="2703700"/>
          </a:xfrm>
          <a:prstGeom prst="curvedConnector3">
            <a:avLst>
              <a:gd name="adj1" fmla="val 58846"/>
            </a:avLst>
          </a:prstGeom>
          <a:ln w="38100" cap="rnd">
            <a:gradFill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2">
                    <a:lumMod val="75000"/>
                  </a:schemeClr>
                </a:gs>
              </a:gsLst>
              <a:lin ang="5400000" scaled="1"/>
            </a:gra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F4A7322A-7BB2-9E2A-1091-0C30D368C054}"/>
              </a:ext>
            </a:extLst>
          </p:cNvPr>
          <p:cNvCxnSpPr>
            <a:cxnSpLocks/>
            <a:stCxn id="35" idx="3"/>
            <a:endCxn id="45" idx="1"/>
          </p:cNvCxnSpPr>
          <p:nvPr/>
        </p:nvCxnSpPr>
        <p:spPr>
          <a:xfrm>
            <a:off x="5444922" y="6246112"/>
            <a:ext cx="549548" cy="241361"/>
          </a:xfrm>
          <a:prstGeom prst="line">
            <a:avLst/>
          </a:prstGeom>
          <a:ln w="38100" cap="rnd">
            <a:gradFill>
              <a:gsLst>
                <a:gs pos="0">
                  <a:schemeClr val="accent2">
                    <a:lumMod val="7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3DD07554-13BE-CF79-2D39-FF9656B23C0F}"/>
              </a:ext>
            </a:extLst>
          </p:cNvPr>
          <p:cNvCxnSpPr>
            <a:cxnSpLocks/>
            <a:stCxn id="36" idx="3"/>
            <a:endCxn id="45" idx="1"/>
          </p:cNvCxnSpPr>
          <p:nvPr/>
        </p:nvCxnSpPr>
        <p:spPr>
          <a:xfrm flipV="1">
            <a:off x="5444922" y="6487473"/>
            <a:ext cx="549548" cy="324761"/>
          </a:xfrm>
          <a:prstGeom prst="line">
            <a:avLst/>
          </a:prstGeom>
          <a:ln w="38100" cap="rnd">
            <a:gradFill>
              <a:gsLst>
                <a:gs pos="0">
                  <a:schemeClr val="accent2">
                    <a:lumMod val="7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C4EE832D-13FE-92EB-8E82-00311F11D59A}"/>
              </a:ext>
            </a:extLst>
          </p:cNvPr>
          <p:cNvCxnSpPr>
            <a:cxnSpLocks/>
            <a:stCxn id="45" idx="0"/>
            <a:endCxn id="23" idx="1"/>
          </p:cNvCxnSpPr>
          <p:nvPr/>
        </p:nvCxnSpPr>
        <p:spPr>
          <a:xfrm flipV="1">
            <a:off x="7164470" y="2047531"/>
            <a:ext cx="2141021" cy="4222411"/>
          </a:xfrm>
          <a:prstGeom prst="line">
            <a:avLst/>
          </a:prstGeom>
          <a:ln w="38100" cap="rnd">
            <a:gradFill>
              <a:gsLst>
                <a:gs pos="100000">
                  <a:srgbClr val="FFC000"/>
                </a:gs>
                <a:gs pos="0">
                  <a:schemeClr val="tx1"/>
                </a:gs>
              </a:gsLst>
              <a:lin ang="5400000" scaled="1"/>
            </a:gra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08469E54-F920-E2CA-9B2C-7240975032C3}"/>
              </a:ext>
            </a:extLst>
          </p:cNvPr>
          <p:cNvCxnSpPr>
            <a:cxnSpLocks/>
            <a:stCxn id="45" idx="2"/>
            <a:endCxn id="27" idx="1"/>
          </p:cNvCxnSpPr>
          <p:nvPr/>
        </p:nvCxnSpPr>
        <p:spPr>
          <a:xfrm>
            <a:off x="7164470" y="6705003"/>
            <a:ext cx="2141021" cy="2542528"/>
          </a:xfrm>
          <a:prstGeom prst="line">
            <a:avLst/>
          </a:prstGeom>
          <a:ln w="38100" cap="rnd">
            <a:gradFill>
              <a:gsLst>
                <a:gs pos="0">
                  <a:schemeClr val="tx1"/>
                </a:gs>
                <a:gs pos="100000">
                  <a:srgbClr val="C00000"/>
                </a:gs>
              </a:gsLst>
              <a:lin ang="5400000" scaled="1"/>
            </a:gra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Curved 157">
            <a:extLst>
              <a:ext uri="{FF2B5EF4-FFF2-40B4-BE49-F238E27FC236}">
                <a16:creationId xmlns:a16="http://schemas.microsoft.com/office/drawing/2014/main" id="{95524DC8-16B7-03C2-0C9A-12DD39BD5559}"/>
              </a:ext>
            </a:extLst>
          </p:cNvPr>
          <p:cNvCxnSpPr>
            <a:cxnSpLocks/>
            <a:stCxn id="31" idx="0"/>
            <a:endCxn id="43" idx="3"/>
          </p:cNvCxnSpPr>
          <p:nvPr/>
        </p:nvCxnSpPr>
        <p:spPr>
          <a:xfrm rot="16200000" flipV="1">
            <a:off x="6552556" y="1483868"/>
            <a:ext cx="2185303" cy="4400569"/>
          </a:xfrm>
          <a:prstGeom prst="curvedConnector2">
            <a:avLst/>
          </a:prstGeom>
          <a:ln w="38100" cap="rnd">
            <a:gradFill>
              <a:gsLst>
                <a:gs pos="0">
                  <a:schemeClr val="tx1"/>
                </a:gs>
                <a:gs pos="100000">
                  <a:schemeClr val="accent6">
                    <a:lumMod val="75000"/>
                  </a:schemeClr>
                </a:gs>
              </a:gsLst>
              <a:lin ang="5400000" scaled="1"/>
            </a:gra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Curved 161">
            <a:extLst>
              <a:ext uri="{FF2B5EF4-FFF2-40B4-BE49-F238E27FC236}">
                <a16:creationId xmlns:a16="http://schemas.microsoft.com/office/drawing/2014/main" id="{BCC0FC3B-29B3-C728-29CC-7CE8D5E23064}"/>
              </a:ext>
            </a:extLst>
          </p:cNvPr>
          <p:cNvCxnSpPr>
            <a:cxnSpLocks/>
            <a:stCxn id="31" idx="2"/>
            <a:endCxn id="37" idx="3"/>
          </p:cNvCxnSpPr>
          <p:nvPr/>
        </p:nvCxnSpPr>
        <p:spPr>
          <a:xfrm rot="5400000">
            <a:off x="7240091" y="4781636"/>
            <a:ext cx="810233" cy="4400569"/>
          </a:xfrm>
          <a:prstGeom prst="curvedConnector2">
            <a:avLst/>
          </a:prstGeom>
          <a:ln w="38100" cap="rnd">
            <a:gradFill>
              <a:gsLst>
                <a:gs pos="0">
                  <a:schemeClr val="tx1"/>
                </a:gs>
                <a:gs pos="100000">
                  <a:schemeClr val="accent2">
                    <a:lumMod val="75000"/>
                  </a:schemeClr>
                </a:gs>
              </a:gsLst>
              <a:lin ang="5400000" scaled="1"/>
            </a:gra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9735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148</TotalTime>
  <Words>55</Words>
  <Application>Microsoft Office PowerPoint</Application>
  <PresentationFormat>Custom</PresentationFormat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Hưng Thịnh Nguyễn</dc:creator>
  <cp:lastModifiedBy>Hưng Thịnh Nguyễn</cp:lastModifiedBy>
  <cp:revision>5</cp:revision>
  <dcterms:created xsi:type="dcterms:W3CDTF">2026-03-15T09:41:29Z</dcterms:created>
  <dcterms:modified xsi:type="dcterms:W3CDTF">2026-04-09T14:18:00Z</dcterms:modified>
</cp:coreProperties>
</file>